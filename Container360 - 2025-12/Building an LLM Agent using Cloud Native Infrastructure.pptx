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9" r:id="rId2"/>
  </p:sldMasterIdLst>
  <p:notesMasterIdLst>
    <p:notesMasterId r:id="rId16"/>
  </p:notesMasterIdLst>
  <p:sldIdLst>
    <p:sldId id="257" r:id="rId3"/>
    <p:sldId id="409" r:id="rId4"/>
    <p:sldId id="410" r:id="rId5"/>
    <p:sldId id="404" r:id="rId6"/>
    <p:sldId id="420" r:id="rId7"/>
    <p:sldId id="421" r:id="rId8"/>
    <p:sldId id="422" r:id="rId9"/>
    <p:sldId id="412" r:id="rId10"/>
    <p:sldId id="423" r:id="rId11"/>
    <p:sldId id="424" r:id="rId12"/>
    <p:sldId id="426" r:id="rId13"/>
    <p:sldId id="427" r:id="rId14"/>
    <p:sldId id="425" r:id="rId15"/>
  </p:sldIdLst>
  <p:sldSz cx="12192000" cy="6858000"/>
  <p:notesSz cx="6858000" cy="9144000"/>
  <p:embeddedFontLs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1" roundtripDataSignature="AMtx7mhuAUSRUHXfBEQMryvGwGYUe/XP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39FD84-3D69-4937-9D8F-CB47EF7A7876}">
  <a:tblStyle styleId="{AB39FD84-3D69-4937-9D8F-CB47EF7A78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 snapToGrid="0">
      <p:cViewPr varScale="1">
        <p:scale>
          <a:sx n="123" d="100"/>
          <a:sy n="123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16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16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16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65" Type="http://schemas.openxmlformats.org/officeDocument/2006/relationships/tableStyles" Target="tableStyles.xml"/><Relationship Id="rId10" Type="http://schemas.openxmlformats.org/officeDocument/2006/relationships/slide" Target="slides/slide8.xml"/><Relationship Id="rId16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Space Grotesk" pitchFamily="2" charset="0"/>
        <a:ea typeface="Space Grotesk" pitchFamily="2" charset="0"/>
        <a:cs typeface="Space Grotesk" pitchFamily="2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0" name="Google Shape;2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269BDF0-9D12-7178-48E2-9C22CA5A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64592CF3-089A-746E-88F5-E6F4247C8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80ED4EEF-E1F6-2633-ED47-7D84E9453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3299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D401EF4-4CE2-118F-2303-D1CDD5C4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4C0286C5-D0B4-976A-BF32-CFC8C4039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13BB7715-48D8-6C7A-2070-3A4BA1A0A1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6533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AF96EAB-6C09-43F6-47E9-7E57AD03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93B0AC20-0CFD-7422-6356-F51606696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7C830C8C-849C-A53A-1E75-22E25B299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6810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A243990-8F3B-DFC5-8071-3D91621E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17429F1E-044A-44E1-735C-E3E940C61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BA271D4F-CEB1-7B8A-C56B-E79F629FD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282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A38B50-9FF5-C22D-DE23-55E1E95A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68608F20-91FA-756C-92CF-59374AEC8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F8CFB212-D80F-AD99-D88D-8361789AC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2487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7932DC5-05A5-B7FA-A761-21035899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:notes">
            <a:extLst>
              <a:ext uri="{FF2B5EF4-FFF2-40B4-BE49-F238E27FC236}">
                <a16:creationId xmlns:a16="http://schemas.microsoft.com/office/drawing/2014/main" id="{4465BD85-F012-C6EF-7B06-4FC53C0FA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6" name="Google Shape;106;p30:notes">
            <a:extLst>
              <a:ext uri="{FF2B5EF4-FFF2-40B4-BE49-F238E27FC236}">
                <a16:creationId xmlns:a16="http://schemas.microsoft.com/office/drawing/2014/main" id="{2E0C4249-3A53-9152-B253-FF220FC7F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3130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_empty_white">
  <p:cSld name="default_empty_whit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orange">
  <p:cSld name="section_orange">
    <p:bg>
      <p:bgPr>
        <a:solidFill>
          <a:schemeClr val="accent6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2"/>
          <p:cNvSpPr txBox="1">
            <a:spLocks noGrp="1"/>
          </p:cNvSpPr>
          <p:nvPr>
            <p:ph type="title"/>
          </p:nvPr>
        </p:nvSpPr>
        <p:spPr>
          <a:xfrm>
            <a:off x="185950" y="3600000"/>
            <a:ext cx="11820099" cy="92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98B"/>
              </a:buClr>
              <a:buSzPts val="2400"/>
              <a:buNone/>
              <a:defRPr sz="2400">
                <a:solidFill>
                  <a:srgbClr val="88898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2000"/>
              <a:buNone/>
              <a:defRPr sz="2000">
                <a:solidFill>
                  <a:srgbClr val="88898B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800"/>
              <a:buNone/>
              <a:defRPr sz="1800">
                <a:solidFill>
                  <a:srgbClr val="88898B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08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86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835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1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23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150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79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4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43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38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095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_empty_white">
  <p:cSld name="default_empty_whit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_left">
  <p:cSld name="default_lef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6"/>
          <p:cNvSpPr txBox="1">
            <a:spLocks noGrp="1"/>
          </p:cNvSpPr>
          <p:nvPr>
            <p:ph type="title"/>
          </p:nvPr>
        </p:nvSpPr>
        <p:spPr>
          <a:xfrm>
            <a:off x="196754" y="166233"/>
            <a:ext cx="11820099" cy="92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529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pace Grotesk Medium"/>
              <a:buNone/>
              <a:defRPr sz="44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16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iri.varma@outlook.com" TargetMode="External"/><Relationship Id="rId2" Type="http://schemas.openxmlformats.org/officeDocument/2006/relationships/hyperlink" Target="https://linkedin.com/in/sirivarma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0" descr="A white and blue hexagon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4" y="0"/>
            <a:ext cx="121783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0"/>
          <p:cNvSpPr txBox="1"/>
          <p:nvPr/>
        </p:nvSpPr>
        <p:spPr>
          <a:xfrm>
            <a:off x="722631" y="1305183"/>
            <a:ext cx="704215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3600" dirty="0">
                <a:latin typeface="Space Grotesk" pitchFamily="50" charset="0"/>
                <a:cs typeface="Space Grotesk" pitchFamily="50" charset="0"/>
              </a:rPr>
              <a:t>Building Agentic AI using Cloud Native Infrastructure</a:t>
            </a:r>
            <a:endParaRPr sz="3600" b="0" i="0" u="none" strike="noStrike" cap="none" dirty="0">
              <a:solidFill>
                <a:srgbClr val="000000"/>
              </a:solidFill>
              <a:latin typeface="Space Grotesk" pitchFamily="50" charset="0"/>
              <a:ea typeface="Space Grotesk"/>
              <a:cs typeface="Space Grotesk" pitchFamily="50" charset="0"/>
              <a:sym typeface="Space Grotesk"/>
            </a:endParaRPr>
          </a:p>
        </p:txBody>
      </p:sp>
      <p:sp>
        <p:nvSpPr>
          <p:cNvPr id="112" name="Google Shape;112;p30"/>
          <p:cNvSpPr txBox="1"/>
          <p:nvPr/>
        </p:nvSpPr>
        <p:spPr>
          <a:xfrm>
            <a:off x="722631" y="3810654"/>
            <a:ext cx="632586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Siri Varma Vegiraju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latin typeface="Space Grotesk"/>
                <a:ea typeface="Space Grotesk"/>
                <a:cs typeface="Space Grotesk"/>
                <a:sym typeface="Space Grotesk"/>
              </a:rPr>
              <a:t>Senior Software Engineer</a:t>
            </a:r>
            <a:endParaRPr sz="2800" b="0" i="0" u="none" strike="noStrike" cap="none" dirty="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5AF67-D746-B9F2-A6F0-D527C4261D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2306" y="757084"/>
            <a:ext cx="10847388" cy="1171575"/>
          </a:xfrm>
        </p:spPr>
        <p:txBody>
          <a:bodyPr anchor="t">
            <a:normAutofit/>
          </a:bodyPr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3EA9F5"/>
                </a:solidFill>
                <a:effectLst/>
                <a:uLnTx/>
                <a:uFillTx/>
                <a:latin typeface="Space Grotesk" charset="0"/>
                <a:cs typeface="Space Grotesk" charset="0"/>
                <a:sym typeface="Space Grotesk Medium"/>
              </a:rPr>
              <a:t>Siri Varma Vegiraju</a:t>
            </a:r>
            <a:endParaRPr lang="en-US" dirty="0">
              <a:latin typeface="Space Grotesk" charset="0"/>
              <a:cs typeface="Space Grotesk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A7B52-F7BF-A33F-49A2-A03C476DFA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7829" y="1928659"/>
            <a:ext cx="4564062" cy="3760787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Space Grotesk" charset="0"/>
                <a:cs typeface="Space Grotesk" charset="0"/>
              </a:rPr>
              <a:t>Senior Software Engineer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Freelance Contributor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LinkedIn: </a:t>
            </a:r>
            <a:r>
              <a:rPr lang="en-US" dirty="0">
                <a:latin typeface="Space Grotesk" charset="0"/>
                <a:cs typeface="Space Grotesk" charset="0"/>
                <a:hlinkClick r:id="rId2"/>
              </a:rPr>
              <a:t>/</a:t>
            </a:r>
            <a:r>
              <a:rPr lang="en-US" dirty="0" err="1">
                <a:latin typeface="Space Grotesk" charset="0"/>
                <a:cs typeface="Space Grotesk" charset="0"/>
                <a:hlinkClick r:id="rId2"/>
              </a:rPr>
              <a:t>sirivarma</a:t>
            </a:r>
            <a:endParaRPr lang="en-US" dirty="0">
              <a:latin typeface="Space Grotesk" charset="0"/>
              <a:cs typeface="Space Grotesk" charset="0"/>
            </a:endParaRPr>
          </a:p>
          <a:p>
            <a:r>
              <a:rPr lang="en-US" dirty="0">
                <a:latin typeface="Space Grotesk" charset="0"/>
                <a:cs typeface="Space Grotesk" charset="0"/>
              </a:rPr>
              <a:t>Email: </a:t>
            </a:r>
            <a:r>
              <a:rPr lang="en-US" dirty="0">
                <a:latin typeface="Space Grotesk" charset="0"/>
                <a:cs typeface="Space Grotesk" charset="0"/>
                <a:hlinkClick r:id="rId3"/>
              </a:rPr>
              <a:t>siri.varma@outlook.com</a:t>
            </a:r>
            <a:endParaRPr lang="en-US" dirty="0">
              <a:latin typeface="Space Grotesk" charset="0"/>
              <a:cs typeface="Space Grotesk" charset="0"/>
            </a:endParaRPr>
          </a:p>
          <a:p>
            <a:r>
              <a:rPr lang="en-US" dirty="0">
                <a:latin typeface="Space Grotesk" charset="0"/>
                <a:cs typeface="Space Grotesk" charset="0"/>
              </a:rPr>
              <a:t>Twitter: @sirivegiraju</a:t>
            </a:r>
          </a:p>
        </p:txBody>
      </p:sp>
      <p:pic>
        <p:nvPicPr>
          <p:cNvPr id="6" name="Picture 5" descr="A person standing on a railing with a lake and mountains in the background&#10;&#10;AI-generated content may be incorrect.">
            <a:extLst>
              <a:ext uri="{FF2B5EF4-FFF2-40B4-BE49-F238E27FC236}">
                <a16:creationId xmlns:a16="http://schemas.microsoft.com/office/drawing/2014/main" id="{6C3E7B87-40BC-A40C-10C3-F7C57496C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1" y="1776673"/>
            <a:ext cx="4486275" cy="449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3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044-2960-3E65-5EFB-8A7A72A2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pace Grotesk" charset="0"/>
                <a:cs typeface="Space Grotesk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BFC2-8CC4-CABC-9F8D-D735CF18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pace Grotesk" charset="0"/>
                <a:cs typeface="Space Grotesk" charset="0"/>
              </a:rPr>
              <a:t>What is </a:t>
            </a:r>
            <a:r>
              <a:rPr lang="en-US" dirty="0" err="1">
                <a:latin typeface="Space Grotesk" charset="0"/>
                <a:cs typeface="Space Grotesk" charset="0"/>
              </a:rPr>
              <a:t>Dapr</a:t>
            </a:r>
            <a:r>
              <a:rPr lang="en-US" dirty="0">
                <a:latin typeface="Space Grotesk" charset="0"/>
                <a:cs typeface="Space Grotesk" charset="0"/>
              </a:rPr>
              <a:t> ?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Core Building Blocks</a:t>
            </a:r>
          </a:p>
          <a:p>
            <a:r>
              <a:rPr lang="en-US" dirty="0" err="1">
                <a:latin typeface="Space Grotesk" charset="0"/>
                <a:cs typeface="Space Grotesk" charset="0"/>
              </a:rPr>
              <a:t>Dapr</a:t>
            </a:r>
            <a:r>
              <a:rPr lang="en-US" dirty="0">
                <a:latin typeface="Space Grotesk" charset="0"/>
                <a:cs typeface="Space Grotesk" charset="0"/>
              </a:rPr>
              <a:t> Agentic Infrastructure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Fundamental blocks to build Agents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Demos</a:t>
            </a:r>
          </a:p>
          <a:p>
            <a:r>
              <a:rPr lang="en-US" dirty="0">
                <a:latin typeface="Space Grotesk" charset="0"/>
                <a:cs typeface="Space Grotesk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637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39"/>
          <p:cNvCxnSpPr>
            <a:stCxn id="293" idx="2"/>
          </p:cNvCxnSpPr>
          <p:nvPr/>
        </p:nvCxnSpPr>
        <p:spPr>
          <a:xfrm>
            <a:off x="1250990" y="2260053"/>
            <a:ext cx="0" cy="1086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294" name="Google Shape;294;p39"/>
          <p:cNvSpPr/>
          <p:nvPr/>
        </p:nvSpPr>
        <p:spPr>
          <a:xfrm>
            <a:off x="266132" y="1071349"/>
            <a:ext cx="11662012" cy="1302127"/>
          </a:xfrm>
          <a:prstGeom prst="roundRect">
            <a:avLst>
              <a:gd name="adj" fmla="val 11426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/>
          </p:nvPr>
        </p:nvSpPr>
        <p:spPr>
          <a:xfrm>
            <a:off x="196754" y="215001"/>
            <a:ext cx="11820099" cy="92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/>
              <a:t>Dapr – Application developer platform</a:t>
            </a:r>
            <a:endParaRPr dirty="0"/>
          </a:p>
        </p:txBody>
      </p:sp>
      <p:grpSp>
        <p:nvGrpSpPr>
          <p:cNvPr id="296" name="Google Shape;296;p39"/>
          <p:cNvGrpSpPr/>
          <p:nvPr/>
        </p:nvGrpSpPr>
        <p:grpSpPr>
          <a:xfrm>
            <a:off x="710990" y="1180053"/>
            <a:ext cx="1080000" cy="1080000"/>
            <a:chOff x="779230" y="1433084"/>
            <a:chExt cx="1440000" cy="1440000"/>
          </a:xfrm>
        </p:grpSpPr>
        <p:pic>
          <p:nvPicPr>
            <p:cNvPr id="293" name="Google Shape;293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9230" y="1433084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39"/>
            <p:cNvSpPr txBox="1"/>
            <p:nvPr/>
          </p:nvSpPr>
          <p:spPr>
            <a:xfrm>
              <a:off x="978473" y="1999216"/>
              <a:ext cx="1041511" cy="3692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121C2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App</a:t>
              </a:r>
              <a:endParaRPr sz="1200" b="1" i="0" u="none" strike="noStrike" cap="none" dirty="0">
                <a:solidFill>
                  <a:srgbClr val="121C2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298" name="Google Shape;298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728" y="3371128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8063" y="1525927"/>
            <a:ext cx="494987" cy="49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8366" y="1385151"/>
            <a:ext cx="876445" cy="776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0127" y="1448727"/>
            <a:ext cx="649386" cy="649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20992" y="1278262"/>
            <a:ext cx="1298773" cy="79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15132" y="1523656"/>
            <a:ext cx="930939" cy="49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15081" y="1550903"/>
            <a:ext cx="1507666" cy="44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1388" y="1500950"/>
            <a:ext cx="544940" cy="54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024829" y="1494139"/>
            <a:ext cx="494987" cy="55856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9"/>
          <p:cNvSpPr/>
          <p:nvPr/>
        </p:nvSpPr>
        <p:spPr>
          <a:xfrm>
            <a:off x="264994" y="2658088"/>
            <a:ext cx="11662012" cy="2612909"/>
          </a:xfrm>
          <a:prstGeom prst="roundRect">
            <a:avLst>
              <a:gd name="adj" fmla="val 5358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264994" y="5623559"/>
            <a:ext cx="11662012" cy="9749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9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08127" y="3947110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9"/>
          <p:cNvPicPr>
            <a:picLocks noChangeAspect="1"/>
          </p:cNvPicPr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63019" y="28816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9"/>
          <p:cNvPicPr>
            <a:picLocks noChangeAspect="1"/>
          </p:cNvPicPr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3019" y="3947110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9"/>
          <p:cNvPicPr>
            <a:picLocks noChangeAspect="1"/>
          </p:cNvPicPr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11388" y="28816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>
            <a:picLocks noChangeAspect="1"/>
          </p:cNvPicPr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959757" y="28816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>
            <a:picLocks noChangeAspect="1"/>
          </p:cNvPicPr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14650" y="28816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9"/>
          <p:cNvPicPr>
            <a:picLocks noChangeAspect="1"/>
          </p:cNvPicPr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108127" y="28816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9"/>
          <p:cNvPicPr>
            <a:picLocks noChangeAspect="1"/>
          </p:cNvPicPr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959757" y="3947110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>
            <a:picLocks noChangeAspect="1"/>
          </p:cNvPicPr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811388" y="3947110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>
            <a:picLocks noChangeAspect="1"/>
          </p:cNvPicPr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514650" y="3947110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>
            <a:picLocks noChangeAspect="1"/>
          </p:cNvPicPr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404865" y="2877018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>
            <a:picLocks noChangeAspect="1"/>
          </p:cNvPicPr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553235" y="3928715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9"/>
          <p:cNvPicPr>
            <a:picLocks noChangeAspect="1"/>
          </p:cNvPicPr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0553235" y="2875553"/>
            <a:ext cx="972000" cy="97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39"/>
          <p:cNvGrpSpPr/>
          <p:nvPr/>
        </p:nvGrpSpPr>
        <p:grpSpPr>
          <a:xfrm>
            <a:off x="8802806" y="862819"/>
            <a:ext cx="2944846" cy="343603"/>
            <a:chOff x="8802806" y="862819"/>
            <a:chExt cx="2944846" cy="343603"/>
          </a:xfrm>
        </p:grpSpPr>
        <p:sp>
          <p:nvSpPr>
            <p:cNvPr id="323" name="Google Shape;323;p39"/>
            <p:cNvSpPr/>
            <p:nvPr/>
          </p:nvSpPr>
          <p:spPr>
            <a:xfrm>
              <a:off x="8802806" y="862819"/>
              <a:ext cx="2944846" cy="343603"/>
            </a:xfrm>
            <a:prstGeom prst="roundRect">
              <a:avLst>
                <a:gd name="adj" fmla="val 30559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9"/>
            <p:cNvSpPr txBox="1"/>
            <p:nvPr/>
          </p:nvSpPr>
          <p:spPr>
            <a:xfrm>
              <a:off x="8944941" y="884065"/>
              <a:ext cx="26605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121C2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Use any language or runtime</a:t>
              </a:r>
              <a:endParaRPr sz="1400" b="0" i="0" u="none" strike="noStrike" cap="none">
                <a:solidFill>
                  <a:srgbClr val="121C2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25" name="Google Shape;325;p39"/>
          <p:cNvGrpSpPr/>
          <p:nvPr/>
        </p:nvGrpSpPr>
        <p:grpSpPr>
          <a:xfrm>
            <a:off x="459093" y="2482973"/>
            <a:ext cx="1745351" cy="343603"/>
            <a:chOff x="8802806" y="862819"/>
            <a:chExt cx="2944846" cy="343603"/>
          </a:xfrm>
        </p:grpSpPr>
        <p:sp>
          <p:nvSpPr>
            <p:cNvPr id="326" name="Google Shape;326;p39"/>
            <p:cNvSpPr/>
            <p:nvPr/>
          </p:nvSpPr>
          <p:spPr>
            <a:xfrm>
              <a:off x="8802806" y="862819"/>
              <a:ext cx="2944846" cy="343603"/>
            </a:xfrm>
            <a:prstGeom prst="roundRect">
              <a:avLst>
                <a:gd name="adj" fmla="val 30559"/>
              </a:avLst>
            </a:pr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9"/>
            <p:cNvSpPr txBox="1"/>
            <p:nvPr/>
          </p:nvSpPr>
          <p:spPr>
            <a:xfrm>
              <a:off x="8944941" y="884065"/>
              <a:ext cx="26605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HTTP/gRPC</a:t>
              </a:r>
              <a:endParaRPr sz="14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28" name="Google Shape;328;p39"/>
          <p:cNvGrpSpPr/>
          <p:nvPr/>
        </p:nvGrpSpPr>
        <p:grpSpPr>
          <a:xfrm>
            <a:off x="6370320" y="5439988"/>
            <a:ext cx="5377333" cy="544426"/>
            <a:chOff x="8802806" y="862819"/>
            <a:chExt cx="2944846" cy="544426"/>
          </a:xfrm>
        </p:grpSpPr>
        <p:sp>
          <p:nvSpPr>
            <p:cNvPr id="329" name="Google Shape;329;p39"/>
            <p:cNvSpPr/>
            <p:nvPr/>
          </p:nvSpPr>
          <p:spPr>
            <a:xfrm>
              <a:off x="8802806" y="862819"/>
              <a:ext cx="2944846" cy="343603"/>
            </a:xfrm>
            <a:prstGeom prst="roundRect">
              <a:avLst>
                <a:gd name="adj" fmla="val 30559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9"/>
            <p:cNvSpPr txBox="1"/>
            <p:nvPr/>
          </p:nvSpPr>
          <p:spPr>
            <a:xfrm>
              <a:off x="8836815" y="884065"/>
              <a:ext cx="2910837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121C2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Host on &amp; integrate with any cloud or edge infrastructure</a:t>
              </a:r>
              <a:endParaRPr sz="1400" b="0" i="0" u="none" strike="noStrike" cap="none" dirty="0">
                <a:solidFill>
                  <a:srgbClr val="121C2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331" name="Google Shape;331;p39"/>
          <p:cNvPicPr preferRelativeResize="0">
            <a:picLocks noChangeAspect="1"/>
          </p:cNvPicPr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704519" y="6028540"/>
            <a:ext cx="477352" cy="28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9"/>
          <p:cNvPicPr preferRelativeResize="0">
            <a:picLocks noChangeAspect="1"/>
          </p:cNvPicPr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2458694" y="6068647"/>
            <a:ext cx="1358047" cy="210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9"/>
          <p:cNvPicPr preferRelativeResize="0">
            <a:picLocks noChangeAspect="1"/>
          </p:cNvPicPr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093564" y="6025062"/>
            <a:ext cx="1358047" cy="24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9"/>
          <p:cNvPicPr preferRelativeResize="0">
            <a:picLocks noChangeAspect="1"/>
          </p:cNvPicPr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430773" y="5993134"/>
            <a:ext cx="996923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/>
          <p:cNvPicPr preferRelativeResize="0">
            <a:picLocks noChangeAspect="1"/>
          </p:cNvPicPr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5728435" y="5984414"/>
            <a:ext cx="1539367" cy="347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ue and white sign with arrows&#10;&#10;Description automatically generated">
            <a:extLst>
              <a:ext uri="{FF2B5EF4-FFF2-40B4-BE49-F238E27FC236}">
                <a16:creationId xmlns:a16="http://schemas.microsoft.com/office/drawing/2014/main" id="{6C0DEA54-B758-D190-EADB-FE6562CB343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04865" y="3947110"/>
            <a:ext cx="972000" cy="97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BE6973E-51E7-6715-1FB5-49AD657C43CD}"/>
              </a:ext>
            </a:extLst>
          </p:cNvPr>
          <p:cNvGrpSpPr/>
          <p:nvPr/>
        </p:nvGrpSpPr>
        <p:grpSpPr>
          <a:xfrm>
            <a:off x="7652980" y="5978333"/>
            <a:ext cx="1159206" cy="360000"/>
            <a:chOff x="8329361" y="5856379"/>
            <a:chExt cx="1159206" cy="360000"/>
          </a:xfrm>
        </p:grpSpPr>
        <p:pic>
          <p:nvPicPr>
            <p:cNvPr id="4" name="Google Shape;1778;p3">
              <a:extLst>
                <a:ext uri="{FF2B5EF4-FFF2-40B4-BE49-F238E27FC236}">
                  <a16:creationId xmlns:a16="http://schemas.microsoft.com/office/drawing/2014/main" id="{89689704-745C-AD94-A826-82E6D41B1FE4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8329361" y="5856379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16E2AC-DEE6-A305-573D-FE5413C35E03}"/>
                </a:ext>
              </a:extLst>
            </p:cNvPr>
            <p:cNvSpPr txBox="1"/>
            <p:nvPr/>
          </p:nvSpPr>
          <p:spPr>
            <a:xfrm>
              <a:off x="8613006" y="5925111"/>
              <a:ext cx="8755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pace Grotesk" pitchFamily="2" charset="0"/>
                  <a:cs typeface="Space Grotesk" pitchFamily="2" charset="0"/>
                </a:rPr>
                <a:t>Databases</a:t>
              </a:r>
              <a:endParaRPr lang="en-NL" sz="105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7970F2-A49F-D6C8-35BC-3951155ABFB6}"/>
              </a:ext>
            </a:extLst>
          </p:cNvPr>
          <p:cNvGrpSpPr/>
          <p:nvPr/>
        </p:nvGrpSpPr>
        <p:grpSpPr>
          <a:xfrm>
            <a:off x="8898160" y="5969478"/>
            <a:ext cx="1606843" cy="360000"/>
            <a:chOff x="8311975" y="6208941"/>
            <a:chExt cx="1606843" cy="360000"/>
          </a:xfrm>
        </p:grpSpPr>
        <p:pic>
          <p:nvPicPr>
            <p:cNvPr id="3" name="Google Shape;1775;p3">
              <a:extLst>
                <a:ext uri="{FF2B5EF4-FFF2-40B4-BE49-F238E27FC236}">
                  <a16:creationId xmlns:a16="http://schemas.microsoft.com/office/drawing/2014/main" id="{38449986-176F-9795-763F-9B2CF024ED89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8311975" y="6208941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C93D8E-92C1-FC31-C8AB-D1A02B4B8638}"/>
                </a:ext>
              </a:extLst>
            </p:cNvPr>
            <p:cNvSpPr txBox="1"/>
            <p:nvPr/>
          </p:nvSpPr>
          <p:spPr>
            <a:xfrm>
              <a:off x="8618462" y="6277673"/>
              <a:ext cx="130035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pace Grotesk" pitchFamily="2" charset="0"/>
                  <a:cs typeface="Space Grotesk" pitchFamily="2" charset="0"/>
                </a:rPr>
                <a:t>Message Brokers</a:t>
              </a:r>
              <a:endParaRPr lang="en-NL" sz="105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844ECD-CDB3-56B3-357B-6E5D5DD49C1B}"/>
              </a:ext>
            </a:extLst>
          </p:cNvPr>
          <p:cNvGrpSpPr/>
          <p:nvPr/>
        </p:nvGrpSpPr>
        <p:grpSpPr>
          <a:xfrm>
            <a:off x="10584232" y="5981131"/>
            <a:ext cx="1070950" cy="360000"/>
            <a:chOff x="10057366" y="5981131"/>
            <a:chExt cx="1070950" cy="360000"/>
          </a:xfrm>
        </p:grpSpPr>
        <p:pic>
          <p:nvPicPr>
            <p:cNvPr id="5" name="Google Shape;1783;p3">
              <a:extLst>
                <a:ext uri="{FF2B5EF4-FFF2-40B4-BE49-F238E27FC236}">
                  <a16:creationId xmlns:a16="http://schemas.microsoft.com/office/drawing/2014/main" id="{392B6407-5A3E-B01D-307B-8A2917A38DE6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34">
              <a:alphaModFix/>
            </a:blip>
            <a:srcRect/>
            <a:stretch/>
          </p:blipFill>
          <p:spPr>
            <a:xfrm>
              <a:off x="10057366" y="5981131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E8800A-0D7B-A1BB-1BCC-43389EA3A376}"/>
                </a:ext>
              </a:extLst>
            </p:cNvPr>
            <p:cNvSpPr txBox="1"/>
            <p:nvPr/>
          </p:nvSpPr>
          <p:spPr>
            <a:xfrm>
              <a:off x="10393820" y="6033824"/>
              <a:ext cx="73449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pace Grotesk" pitchFamily="2" charset="0"/>
                  <a:cs typeface="Space Grotesk" pitchFamily="2" charset="0"/>
                </a:rPr>
                <a:t>Services</a:t>
              </a:r>
              <a:endParaRPr lang="en-NL" sz="105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70658E-69A1-988E-E3CF-24763C903169}"/>
              </a:ext>
            </a:extLst>
          </p:cNvPr>
          <p:cNvGrpSpPr/>
          <p:nvPr/>
        </p:nvGrpSpPr>
        <p:grpSpPr>
          <a:xfrm>
            <a:off x="1203092" y="5270997"/>
            <a:ext cx="152400" cy="354185"/>
            <a:chOff x="1203092" y="5270997"/>
            <a:chExt cx="152400" cy="354185"/>
          </a:xfrm>
        </p:grpSpPr>
        <p:cxnSp>
          <p:nvCxnSpPr>
            <p:cNvPr id="14" name="Google Shape;292;p39">
              <a:extLst>
                <a:ext uri="{FF2B5EF4-FFF2-40B4-BE49-F238E27FC236}">
                  <a16:creationId xmlns:a16="http://schemas.microsoft.com/office/drawing/2014/main" id="{D37626B8-450F-362B-DBA6-52F0FD583C61}"/>
                </a:ext>
              </a:extLst>
            </p:cNvPr>
            <p:cNvCxnSpPr>
              <a:cxnSpLocks/>
            </p:cNvCxnSpPr>
            <p:nvPr/>
          </p:nvCxnSpPr>
          <p:spPr>
            <a:xfrm>
              <a:off x="1203092" y="5270997"/>
              <a:ext cx="0" cy="34002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15" name="Google Shape;292;p39">
              <a:extLst>
                <a:ext uri="{FF2B5EF4-FFF2-40B4-BE49-F238E27FC236}">
                  <a16:creationId xmlns:a16="http://schemas.microsoft.com/office/drawing/2014/main" id="{6DF071E8-EB21-3FF2-331D-20E6C19B9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5492" y="5285154"/>
              <a:ext cx="0" cy="34002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22E4D1C-B845-681D-4978-6B6390F5A38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56497" y="2883891"/>
            <a:ext cx="972000" cy="972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390EB5E-A81F-3BA2-6DDA-A8D845C0F55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256540" y="3948677"/>
            <a:ext cx="972000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2F941-D39C-09D4-5426-4D558975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2" y="519011"/>
            <a:ext cx="11573435" cy="56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5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FD52-4DB2-ADA0-68ED-EC99229F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A74EB0-5D5B-9F73-E709-74837D8D8699}"/>
              </a:ext>
            </a:extLst>
          </p:cNvPr>
          <p:cNvSpPr txBox="1"/>
          <p:nvPr/>
        </p:nvSpPr>
        <p:spPr>
          <a:xfrm>
            <a:off x="3848374" y="309186"/>
            <a:ext cx="3782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Architecture using </a:t>
            </a:r>
            <a:r>
              <a:rPr lang="en-US" sz="2800" dirty="0" err="1">
                <a:solidFill>
                  <a:schemeClr val="accent1"/>
                </a:solidFill>
                <a:latin typeface="Space Grotesk" charset="0"/>
                <a:cs typeface="Space Grotesk" charset="0"/>
              </a:rPr>
              <a:t>Dapr</a:t>
            </a:r>
            <a:endParaRPr lang="en-US" sz="2800" dirty="0">
              <a:solidFill>
                <a:schemeClr val="accent1"/>
              </a:solidFill>
              <a:latin typeface="Space Grotesk" charset="0"/>
              <a:cs typeface="Space Grotesk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37719-46AF-314F-FEB6-10DC1F8E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58" y="1413892"/>
            <a:ext cx="11284323" cy="513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7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1B46F14-74CE-3066-EAB3-A4B29081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me - Dapr Agents">
            <a:extLst>
              <a:ext uri="{FF2B5EF4-FFF2-40B4-BE49-F238E27FC236}">
                <a16:creationId xmlns:a16="http://schemas.microsoft.com/office/drawing/2014/main" id="{17AAEB18-6146-E8F4-63A9-4E4A302DF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982" y="1986523"/>
            <a:ext cx="3476625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8BC953-330C-0CA7-0A36-927571FC43E7}"/>
              </a:ext>
            </a:extLst>
          </p:cNvPr>
          <p:cNvSpPr txBox="1"/>
          <p:nvPr/>
        </p:nvSpPr>
        <p:spPr>
          <a:xfrm>
            <a:off x="3848374" y="309186"/>
            <a:ext cx="3782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accent1"/>
                </a:solidFill>
                <a:latin typeface="Space Grotesk" charset="0"/>
                <a:cs typeface="Space Grotesk" charset="0"/>
              </a:rPr>
              <a:t>Dapr</a:t>
            </a:r>
            <a:r>
              <a:rPr lang="en-US" sz="28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 Agents</a:t>
            </a:r>
          </a:p>
        </p:txBody>
      </p:sp>
    </p:spTree>
    <p:extLst>
      <p:ext uri="{BB962C8B-B14F-4D97-AF65-F5344CB8AC3E}">
        <p14:creationId xmlns:p14="http://schemas.microsoft.com/office/powerpoint/2010/main" val="293434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A0A479-51A8-7C82-6D6F-FFE4F5FADF51}"/>
              </a:ext>
            </a:extLst>
          </p:cNvPr>
          <p:cNvCxnSpPr/>
          <p:nvPr/>
        </p:nvCxnSpPr>
        <p:spPr>
          <a:xfrm>
            <a:off x="6335805" y="1952925"/>
            <a:ext cx="0" cy="4020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EF9B5-A0BA-7E84-F230-66717C1835A0}"/>
              </a:ext>
            </a:extLst>
          </p:cNvPr>
          <p:cNvSpPr txBox="1"/>
          <p:nvPr/>
        </p:nvSpPr>
        <p:spPr>
          <a:xfrm>
            <a:off x="3848374" y="309186"/>
            <a:ext cx="3782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Agent Patterns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DF365-E794-37FB-D417-E0B14BF713BC}"/>
              </a:ext>
            </a:extLst>
          </p:cNvPr>
          <p:cNvSpPr txBox="1"/>
          <p:nvPr/>
        </p:nvSpPr>
        <p:spPr>
          <a:xfrm>
            <a:off x="1677174" y="2926068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Tool Calling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1405C-C706-C6D5-7964-403B1F835014}"/>
              </a:ext>
            </a:extLst>
          </p:cNvPr>
          <p:cNvSpPr txBox="1"/>
          <p:nvPr/>
        </p:nvSpPr>
        <p:spPr>
          <a:xfrm>
            <a:off x="6828864" y="2926068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Multi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D2A98BF-F31F-2E6E-9FB7-331F7BEF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213167-0767-7C40-6E14-01208ED4B09D}"/>
              </a:ext>
            </a:extLst>
          </p:cNvPr>
          <p:cNvSpPr txBox="1"/>
          <p:nvPr/>
        </p:nvSpPr>
        <p:spPr>
          <a:xfrm>
            <a:off x="3846633" y="221894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Tool Calling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14DCD-EDAC-5383-FBE2-F4083A9E1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220" y="1211294"/>
            <a:ext cx="7868748" cy="4906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FCD02-84DE-FC3A-2278-F487539676DC}"/>
              </a:ext>
            </a:extLst>
          </p:cNvPr>
          <p:cNvSpPr txBox="1"/>
          <p:nvPr/>
        </p:nvSpPr>
        <p:spPr>
          <a:xfrm>
            <a:off x="9594476" y="6407524"/>
            <a:ext cx="213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https://dapr.github.io/dapr-agents/concepts/agents/#tool-calling</a:t>
            </a:r>
          </a:p>
        </p:txBody>
      </p:sp>
    </p:spTree>
    <p:extLst>
      <p:ext uri="{BB962C8B-B14F-4D97-AF65-F5344CB8AC3E}">
        <p14:creationId xmlns:p14="http://schemas.microsoft.com/office/powerpoint/2010/main" val="164626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7FB436C-E193-56F7-B9C2-0132D399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95234-9A44-E49D-0E29-852AE8ABA53E}"/>
              </a:ext>
            </a:extLst>
          </p:cNvPr>
          <p:cNvSpPr txBox="1"/>
          <p:nvPr/>
        </p:nvSpPr>
        <p:spPr>
          <a:xfrm>
            <a:off x="3846633" y="221894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Multi Agent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26D81F-932F-5B15-9886-C2BF75A77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39" y="1254345"/>
            <a:ext cx="5775740" cy="53817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9B2ED2-7F19-B557-8C48-ECB5B6DEAE8D}"/>
              </a:ext>
            </a:extLst>
          </p:cNvPr>
          <p:cNvSpPr txBox="1"/>
          <p:nvPr/>
        </p:nvSpPr>
        <p:spPr>
          <a:xfrm>
            <a:off x="711200" y="1673013"/>
            <a:ext cx="47819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pace Grotesk" pitchFamily="50" charset="0"/>
                <a:cs typeface="Space Grotesk" pitchFamily="50" charset="0"/>
              </a:rPr>
              <a:t>LLM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pace Grotesk" pitchFamily="50" charset="0"/>
              <a:cs typeface="Space Grotesk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pace Grotesk" pitchFamily="50" charset="0"/>
                <a:cs typeface="Space Grotesk" pitchFamily="50" charset="0"/>
              </a:rPr>
              <a:t>Round Robin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pace Grotesk" pitchFamily="50" charset="0"/>
              <a:cs typeface="Space Grotesk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pace Grotesk" pitchFamily="50" charset="0"/>
                <a:cs typeface="Space Grotesk" pitchFamily="50" charset="0"/>
              </a:rPr>
              <a:t>Random Orchestrator</a:t>
            </a:r>
          </a:p>
        </p:txBody>
      </p:sp>
    </p:spTree>
    <p:extLst>
      <p:ext uri="{BB962C8B-B14F-4D97-AF65-F5344CB8AC3E}">
        <p14:creationId xmlns:p14="http://schemas.microsoft.com/office/powerpoint/2010/main" val="290083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FD00240-EAAD-6B43-1503-BD1AD37A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F2B85-F6BC-AFF5-644C-51AA11EDA140}"/>
              </a:ext>
            </a:extLst>
          </p:cNvPr>
          <p:cNvSpPr txBox="1"/>
          <p:nvPr/>
        </p:nvSpPr>
        <p:spPr>
          <a:xfrm>
            <a:off x="3846633" y="221894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MCP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09795-AD01-D49D-7020-4A168F26E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1311441"/>
            <a:ext cx="10552853" cy="507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0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DB4E243-ECB4-DCE0-A428-35CC6950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48F3B-53D8-6973-A816-AA32749C0CD5}"/>
              </a:ext>
            </a:extLst>
          </p:cNvPr>
          <p:cNvSpPr txBox="1"/>
          <p:nvPr/>
        </p:nvSpPr>
        <p:spPr>
          <a:xfrm>
            <a:off x="3846633" y="221894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A0058-5F8F-2C38-11D6-FE88E9088BE0}"/>
              </a:ext>
            </a:extLst>
          </p:cNvPr>
          <p:cNvSpPr txBox="1"/>
          <p:nvPr/>
        </p:nvSpPr>
        <p:spPr>
          <a:xfrm>
            <a:off x="799495" y="1294994"/>
            <a:ext cx="98768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2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Space Grotesk" pitchFamily="50" charset="0"/>
                <a:cs typeface="Space Grotesk" pitchFamily="50" charset="0"/>
              </a:rPr>
              <a:t>Scalable &amp; Durable Workflows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Space Grotesk" pitchFamily="50" charset="0"/>
                <a:cs typeface="Space Grotesk" pitchFamily="50" charset="0"/>
              </a:rPr>
              <a:t>Cost-Effective Agentic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Space Grotesk" pitchFamily="50" charset="0"/>
                <a:cs typeface="Space Grotesk" pitchFamily="50" charset="0"/>
              </a:rPr>
              <a:t>Data-Centric AI Capabilities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Space Grotesk" pitchFamily="50" charset="0"/>
                <a:cs typeface="Space Grotesk" pitchFamily="50" charset="0"/>
              </a:rPr>
              <a:t>Developer-First AI Toolkit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Space Grotesk" pitchFamily="50" charset="0"/>
                <a:cs typeface="Space Grotesk" pitchFamily="50" charset="0"/>
              </a:rPr>
              <a:t>Secure, Reliable, and Open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200" dirty="0">
              <a:solidFill>
                <a:schemeClr val="tx1"/>
              </a:solidFill>
              <a:latin typeface="Space Grotesk" pitchFamily="50" charset="0"/>
              <a:cs typeface="Space Grotes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12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743E91B-6622-CB87-0BBA-638C8ED1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0499E-A096-E64C-DCE6-B8B175512733}"/>
              </a:ext>
            </a:extLst>
          </p:cNvPr>
          <p:cNvSpPr txBox="1"/>
          <p:nvPr/>
        </p:nvSpPr>
        <p:spPr>
          <a:xfrm>
            <a:off x="3940762" y="2662535"/>
            <a:ext cx="3782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Space Grotesk" charset="0"/>
                <a:cs typeface="Space Grotesk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322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pr">
      <a:dk1>
        <a:srgbClr val="121C29"/>
      </a:dk1>
      <a:lt1>
        <a:srgbClr val="FCFCFC"/>
      </a:lt1>
      <a:dk2>
        <a:srgbClr val="121C29"/>
      </a:dk2>
      <a:lt2>
        <a:srgbClr val="AAAAAA"/>
      </a:lt2>
      <a:accent1>
        <a:srgbClr val="0D2192"/>
      </a:accent1>
      <a:accent2>
        <a:srgbClr val="3EA9F5"/>
      </a:accent2>
      <a:accent3>
        <a:srgbClr val="489FB5"/>
      </a:accent3>
      <a:accent4>
        <a:srgbClr val="0BDDA3"/>
      </a:accent4>
      <a:accent5>
        <a:srgbClr val="EFCA08"/>
      </a:accent5>
      <a:accent6>
        <a:srgbClr val="FF4E00"/>
      </a:accent6>
      <a:hlink>
        <a:srgbClr val="3EA9F5"/>
      </a:hlink>
      <a:folHlink>
        <a:srgbClr val="3EA9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9166</TotalTime>
  <Words>146</Words>
  <Application>Microsoft Office PowerPoint</Application>
  <PresentationFormat>Widescreen</PresentationFormat>
  <Paragraphs>50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DashVTI</vt:lpstr>
      <vt:lpstr>PowerPoint Presentation</vt:lpstr>
      <vt:lpstr>Siri Varma Vegiraju</vt:lpstr>
      <vt:lpstr>Agenda</vt:lpstr>
      <vt:lpstr>Dapr – Application developer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file</dc:title>
  <dc:creator>Marc Duiker</dc:creator>
  <cp:lastModifiedBy>Siri Varma Vegiraju</cp:lastModifiedBy>
  <cp:revision>65</cp:revision>
  <dcterms:created xsi:type="dcterms:W3CDTF">2023-07-25T15:46:21Z</dcterms:created>
  <dcterms:modified xsi:type="dcterms:W3CDTF">2026-01-09T22:44:07Z</dcterms:modified>
</cp:coreProperties>
</file>